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hv5eeg0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0" y="21031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2D35"/>
                </a:solidFill>
                <a:latin typeface="Calibri"/>
              </a:rPr>
              <a:t>KPI FASA / FSM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D35"/>
                </a:solidFill>
                <a:latin typeface="Calibri"/>
              </a:rPr>
              <a:t>DICIEMBRE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E2D35"/>
                </a:solidFill>
                <a:latin typeface="Calibri"/>
              </a:rPr>
              <a:t>Reporte de Indicadores de Desempeño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interlog.com.ar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15ii1kz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D35"/>
                </a:solidFill>
                <a:latin typeface="Calibri"/>
              </a:rPr>
              <a:t>RESUMEN EJECUTIVO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2743200" cy="41148"/>
          </a:xfrm>
          <a:prstGeom prst="rect">
            <a:avLst/>
          </a:prstGeom>
          <a:solidFill>
            <a:srgbClr val="3F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22402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50292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4630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  <a:latin typeface="Calibri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756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LIBERACIÓN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768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FASA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963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0 operaciones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2928" y="960120"/>
            <a:ext cx="22402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52928" y="960120"/>
            <a:ext cx="50292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14630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  <a:latin typeface="Calibri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0756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LIBERACIÓN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2768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FSM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4963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0 operaciones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4376" y="960120"/>
            <a:ext cx="22402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4376" y="960120"/>
            <a:ext cx="50292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4104" y="14630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  <a:latin typeface="Calibri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20756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OFICIALIZACIÓN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2768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FASA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24963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0 operaciones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35824" y="960120"/>
            <a:ext cx="22402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35824" y="960120"/>
            <a:ext cx="50292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14630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  <a:latin typeface="Calibri"/>
              </a:rP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4" y="20756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OFICIALIZACIÓN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7264" y="22768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FSM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7264" y="24963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0 operaciones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77272" y="960120"/>
            <a:ext cx="22402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77272" y="960120"/>
            <a:ext cx="50292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14630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  <a:latin typeface="Calibri"/>
              </a:rPr>
              <a:t>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8712" y="20756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CM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8712" y="22768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PRESENTADOS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68712" y="24963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31 expedientes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3108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Target: 95%  ·  Parámetro ≠ INTERLOG → operación 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A89C"/>
                </a:solidFill>
                <a:latin typeface="Calibri"/>
              </a:rPr>
              <a:t>DESVÍOS IMPUTABLES A INTERLOG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904487"/>
            <a:ext cx="2697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959351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D35"/>
                </a:solidFill>
                <a:latin typeface="Calibri"/>
              </a:rPr>
              <a:t>FASA · Liberación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17880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A89C"/>
                </a:solidFill>
                <a:latin typeface="Calibri"/>
              </a:rPr>
              <a:t>0 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422452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de 0 ops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3904487"/>
            <a:ext cx="2697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3959351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D35"/>
                </a:solidFill>
                <a:latin typeface="Calibri"/>
              </a:rPr>
              <a:t>FSM · Liberación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417880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A89C"/>
                </a:solidFill>
                <a:latin typeface="Calibri"/>
              </a:rPr>
              <a:t>0 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de 0 ops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3904487"/>
            <a:ext cx="2697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959351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D35"/>
                </a:solidFill>
                <a:latin typeface="Calibri"/>
              </a:rPr>
              <a:t>FASA · Oficialización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17880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A89C"/>
                </a:solidFill>
                <a:latin typeface="Calibri"/>
              </a:rPr>
              <a:t>0 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422452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de 0 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3904487"/>
            <a:ext cx="2697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3959351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D35"/>
                </a:solidFill>
                <a:latin typeface="Calibri"/>
              </a:rPr>
              <a:t>FSM · Oficialización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417880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A89C"/>
                </a:solidFill>
                <a:latin typeface="Calibri"/>
              </a:rPr>
              <a:t>0 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422452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de 0 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15ii1kz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D35"/>
                </a:solidFill>
                <a:latin typeface="Calibri"/>
              </a:rPr>
              <a:t>OFICIALIZACIÓN · FASA + FSM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2743200" cy="41148"/>
          </a:xfrm>
          <a:prstGeom prst="rect">
            <a:avLst/>
          </a:prstGeom>
          <a:solidFill>
            <a:srgbClr val="3F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2560320" cy="5212080"/>
          </a:xfrm>
          <a:prstGeom prst="rect">
            <a:avLst/>
          </a:prstGeom>
          <a:solidFill>
            <a:srgbClr val="F0F4F6"/>
          </a:solidFill>
          <a:ln w="19050">
            <a:solidFill>
              <a:srgbClr val="3F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54864" cy="5212080"/>
          </a:xfrm>
          <a:prstGeom prst="rect">
            <a:avLst/>
          </a:prstGeom>
          <a:solidFill>
            <a:srgbClr val="3F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2471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35"/>
                </a:solidFill>
                <a:latin typeface="Calibri"/>
              </a:rPr>
              <a:t>FASA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Calibri"/>
              </a:rPr>
              <a:t>OFICIALIZACIÓN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21945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Calibri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35"/>
                </a:solidFill>
                <a:latin typeface="Calibri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Calibri"/>
              </a:rPr>
              <a:t>LÍMITE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35"/>
                </a:solidFill>
                <a:latin typeface="Calibri"/>
              </a:rPr>
              <a:t>24 hs hábiles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291840"/>
            <a:ext cx="21945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29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D35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FA89C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43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D35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1488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0392B"/>
                </a:solidFill>
                <a:latin typeface="Calibri"/>
              </a:rPr>
              <a:t>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3703320"/>
            <a:ext cx="2651760" cy="25603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3429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KPI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0050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TARGET 95%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960120"/>
            <a:ext cx="2560320" cy="5212080"/>
          </a:xfrm>
          <a:prstGeom prst="rect">
            <a:avLst/>
          </a:prstGeom>
          <a:solidFill>
            <a:srgbClr val="F0F4F6"/>
          </a:solidFill>
          <a:ln w="19050">
            <a:solidFill>
              <a:srgbClr val="3F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960120"/>
            <a:ext cx="54864" cy="5212080"/>
          </a:xfrm>
          <a:prstGeom prst="rect">
            <a:avLst/>
          </a:prstGeom>
          <a:solidFill>
            <a:srgbClr val="3F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112471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35"/>
                </a:solidFill>
                <a:latin typeface="Calibri"/>
              </a:rPr>
              <a:t>FSM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5087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Calibri"/>
              </a:rPr>
              <a:t>OFICIALIZACIÓN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783080"/>
            <a:ext cx="21945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19202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Calibri"/>
              </a:rPr>
              <a:t>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35"/>
                </a:solidFill>
                <a:latin typeface="Calibri"/>
              </a:rPr>
              <a:t>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560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Calibri"/>
              </a:rPr>
              <a:t>LÍMITE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788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35"/>
                </a:solidFill>
                <a:latin typeface="Calibri"/>
              </a:rPr>
              <a:t>24 hs (48 hs Marítimo)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3291840"/>
            <a:ext cx="21945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429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D35"/>
                </a:solidFill>
                <a:latin typeface="Calibr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FA89C"/>
                </a:solidFill>
                <a:latin typeface="Calibri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343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D35"/>
                </a:solidFill>
                <a:latin typeface="Calibri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1488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0392B"/>
                </a:solidFill>
                <a:latin typeface="Calibri"/>
              </a:rPr>
              <a:t>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72600" y="3703320"/>
            <a:ext cx="2651760" cy="25603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3429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KPI 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0050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TARGET 95%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15ii1kz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D35"/>
                </a:solidFill>
                <a:latin typeface="Calibri"/>
              </a:rPr>
              <a:t>CANAL VERDE · VÍA AÉREA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2743200" cy="41148"/>
          </a:xfrm>
          <a:prstGeom prst="rect">
            <a:avLst/>
          </a:prstGeom>
          <a:solidFill>
            <a:srgbClr val="3F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2560320" cy="5212080"/>
          </a:xfrm>
          <a:prstGeom prst="rect">
            <a:avLst/>
          </a:prstGeom>
          <a:solidFill>
            <a:srgbClr val="F0F4F6"/>
          </a:solidFill>
          <a:ln w="19050">
            <a:solidFill>
              <a:srgbClr val="3F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54864" cy="5212080"/>
          </a:xfrm>
          <a:prstGeom prst="rect">
            <a:avLst/>
          </a:prstGeom>
          <a:solidFill>
            <a:srgbClr val="3F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2471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35"/>
                </a:solidFill>
                <a:latin typeface="Calibri"/>
              </a:rPr>
              <a:t>FASA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Calibri"/>
              </a:rPr>
              <a:t>CANAL VERDE AÉREO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21945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Calibri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35"/>
                </a:solidFill>
                <a:latin typeface="Calibri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Calibri"/>
              </a:rPr>
              <a:t>LÍMITE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35"/>
                </a:solidFill>
                <a:latin typeface="Calibri"/>
              </a:rPr>
              <a:t>1 día hábil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291840"/>
            <a:ext cx="21945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29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D35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FA89C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43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D35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1488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0392B"/>
                </a:solidFill>
                <a:latin typeface="Calibri"/>
              </a:rPr>
              <a:t>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3703320"/>
            <a:ext cx="2651760" cy="25603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3429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KPI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0050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TARGET 95%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960120"/>
            <a:ext cx="2560320" cy="5212080"/>
          </a:xfrm>
          <a:prstGeom prst="rect">
            <a:avLst/>
          </a:prstGeom>
          <a:solidFill>
            <a:srgbClr val="F0F4F6"/>
          </a:solidFill>
          <a:ln w="19050">
            <a:solidFill>
              <a:srgbClr val="3F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960120"/>
            <a:ext cx="54864" cy="5212080"/>
          </a:xfrm>
          <a:prstGeom prst="rect">
            <a:avLst/>
          </a:prstGeom>
          <a:solidFill>
            <a:srgbClr val="3F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112471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35"/>
                </a:solidFill>
                <a:latin typeface="Calibri"/>
              </a:rPr>
              <a:t>FSM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5087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Calibri"/>
              </a:rPr>
              <a:t>CANAL VERDE AÉREO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783080"/>
            <a:ext cx="21945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19202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Calibri"/>
              </a:rPr>
              <a:t>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35"/>
                </a:solidFill>
                <a:latin typeface="Calibri"/>
              </a:rPr>
              <a:t>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560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Calibri"/>
              </a:rPr>
              <a:t>LÍMITE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788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35"/>
                </a:solidFill>
                <a:latin typeface="Calibri"/>
              </a:rPr>
              <a:t>1 día hábil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3291840"/>
            <a:ext cx="21945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429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D35"/>
                </a:solidFill>
                <a:latin typeface="Calibr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FA89C"/>
                </a:solidFill>
                <a:latin typeface="Calibri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343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D35"/>
                </a:solidFill>
                <a:latin typeface="Calibri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1488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0392B"/>
                </a:solidFill>
                <a:latin typeface="Calibri"/>
              </a:rPr>
              <a:t>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72600" y="3703320"/>
            <a:ext cx="2651760" cy="25603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3429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KPI 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0050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TARGET 95%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15ii1kz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D35"/>
                </a:solidFill>
                <a:latin typeface="Calibri"/>
              </a:rPr>
              <a:t>DISTRIBUCIÓN DE CANALES · LIBERACIONES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2743200" cy="41148"/>
          </a:xfrm>
          <a:prstGeom prst="rect">
            <a:avLst/>
          </a:prstGeom>
          <a:solidFill>
            <a:srgbClr val="3F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0" y="6254496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D35"/>
                </a:solidFill>
                <a:latin typeface="Calibri"/>
              </a:rPr>
              <a:t>Canal Verde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6254496"/>
            <a:ext cx="201168" cy="201168"/>
          </a:xfrm>
          <a:prstGeom prst="rect">
            <a:avLst/>
          </a:prstGeom>
          <a:solidFill>
            <a:srgbClr val="D4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96512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D35"/>
                </a:solidFill>
                <a:latin typeface="Calibri"/>
              </a:rPr>
              <a:t>Canal Naranja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6254496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25312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D35"/>
                </a:solidFill>
                <a:latin typeface="Calibri"/>
              </a:rPr>
              <a:t>Canal Rojo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15ii1kz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D35"/>
                </a:solidFill>
                <a:latin typeface="Calibri"/>
              </a:rPr>
              <a:t>CERTIFICADOS MINEROS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2743200" cy="41148"/>
          </a:xfrm>
          <a:prstGeom prst="rect">
            <a:avLst/>
          </a:prstGeom>
          <a:solidFill>
            <a:srgbClr val="3F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A89C"/>
                </a:solidFill>
                <a:latin typeface="Calibri"/>
              </a:rPr>
              <a:t>PRESENTADOS · KPI DE GESTIÓN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4173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D35"/>
                </a:solidFill>
                <a:latin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4248" y="1261872"/>
            <a:ext cx="14173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4248" y="135331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FA89C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4248" y="19202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57016" y="1261872"/>
            <a:ext cx="14173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135331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  <a:latin typeface="Calibri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19202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9784" y="1261872"/>
            <a:ext cx="14173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4" y="135331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  <a:latin typeface="Calibri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19202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2D35"/>
                </a:solidFill>
                <a:latin typeface="Calibri"/>
              </a:rPr>
              <a:t>KPI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24942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Límite: 48 hs hábiles desde TAD Subido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6243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A89C"/>
                </a:solidFill>
                <a:latin typeface="Calibri"/>
              </a:rPr>
              <a:t>APROBADOS · TIEMPO DE APROBACIÓN (informativo)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06324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2D35"/>
                </a:solidFill>
                <a:latin typeface="Calibri"/>
              </a:rPr>
              <a:t>0 a 7 días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2990088"/>
            <a:ext cx="8686800" cy="43891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304495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Sin expedientes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79476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2D35"/>
                </a:solidFill>
                <a:latin typeface="Calibri"/>
              </a:rPr>
              <a:t>8 a 15 días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3721608"/>
            <a:ext cx="8686800" cy="43891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4560" y="3721608"/>
            <a:ext cx="8126361" cy="438912"/>
          </a:xfrm>
          <a:prstGeom prst="rect">
            <a:avLst/>
          </a:prstGeom>
          <a:solidFill>
            <a:srgbClr val="D4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3776472"/>
            <a:ext cx="7943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29 exp · 94%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52628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2D35"/>
                </a:solidFill>
                <a:latin typeface="Calibri"/>
              </a:rPr>
              <a:t>+15 días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4453128"/>
            <a:ext cx="8686800" cy="438912"/>
          </a:xfrm>
          <a:prstGeom prst="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94560" y="4453128"/>
            <a:ext cx="560438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4507992"/>
            <a:ext cx="457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2 exp · 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2636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Total aprobados: 31 expedientes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